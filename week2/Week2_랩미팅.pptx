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3.svg" ContentType="image/svg+xml"/>
  <Override PartName="/ppt/media/image31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49" r:id="rId2"/>
    <p:sldId id="393" r:id="rId3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20" r:id="rId36"/>
    <p:sldId id="283" r:id="rId16"/>
  </p:sldIdLst>
  <p:sldSz cx="20318413" cy="11430000"/>
  <p:notesSz cx="11430000" cy="203184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23" userDrawn="1">
          <p15:clr>
            <a:srgbClr val="A4A3A4"/>
          </p15:clr>
        </p15:guide>
        <p15:guide id="2" pos="63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8FF"/>
    <a:srgbClr val="E0F3F2"/>
    <a:srgbClr val="E8EAF6"/>
    <a:srgbClr val="FFF6F5"/>
    <a:srgbClr val="00101A"/>
    <a:srgbClr val="727D8E"/>
    <a:srgbClr val="FF7D0B"/>
    <a:srgbClr val="275DFF"/>
    <a:srgbClr val="F013C7"/>
    <a:srgbClr val="E0E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/>
    <p:restoredTop sz="93741"/>
  </p:normalViewPr>
  <p:slideViewPr>
    <p:cSldViewPr snapToGrid="0" snapToObjects="1">
      <p:cViewPr varScale="1">
        <p:scale>
          <a:sx n="90" d="100"/>
          <a:sy n="90" d="100"/>
        </p:scale>
        <p:origin x="246" y="108"/>
      </p:cViewPr>
      <p:guideLst>
        <p:guide orient="horz" pos="3623"/>
        <p:guide pos="63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>
        <p:scale>
          <a:sx n="84" d="100"/>
          <a:sy n="84" d="100"/>
        </p:scale>
        <p:origin x="3400" y="-236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06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649F-E79A-1E40-F654-BC93A320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E49E2-F996-0B86-D772-A2F58C055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29333-090F-F320-28D8-AA56894B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코멘트: 이번 주는 딥러닝의 기초를 파이토치로 정리한 내용을 발표합니다.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6BCD8-D967-1287-064C-A0554C192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88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코멘트</a:t>
            </a:r>
            <a:r>
              <a:rPr dirty="0"/>
              <a:t>: </a:t>
            </a:r>
            <a:r>
              <a:rPr dirty="0" err="1"/>
              <a:t>튜토리얼</a:t>
            </a:r>
            <a:r>
              <a:rPr dirty="0"/>
              <a:t> </a:t>
            </a:r>
            <a:r>
              <a:rPr dirty="0" err="1"/>
              <a:t>정리</a:t>
            </a:r>
            <a:r>
              <a:rPr dirty="0"/>
              <a:t> 후, </a:t>
            </a:r>
            <a:r>
              <a:rPr dirty="0" err="1"/>
              <a:t>Colab</a:t>
            </a:r>
            <a:r>
              <a:rPr dirty="0"/>
              <a:t> </a:t>
            </a:r>
            <a:r>
              <a:rPr dirty="0" err="1"/>
              <a:t>시연</a:t>
            </a:r>
            <a:r>
              <a:rPr dirty="0"/>
              <a:t> 두 </a:t>
            </a:r>
            <a:r>
              <a:rPr dirty="0" err="1"/>
              <a:t>가지로</a:t>
            </a:r>
            <a:r>
              <a:rPr dirty="0"/>
              <a:t> </a:t>
            </a:r>
            <a:r>
              <a:rPr dirty="0" err="1"/>
              <a:t>이어집니다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코멘트: 발표를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790B6342-6308-41D1-AC74-C17E8928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9413" y="10593388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549126-78F1-9934-B3E6-4F6982352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9413" y="10593388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0" userDrawn="1">
          <p15:clr>
            <a:srgbClr val="F26B43"/>
          </p15:clr>
        </p15:guide>
        <p15:guide id="2" pos="639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svg"/><Relationship Id="rId14" Type="http://schemas.openxmlformats.org/officeDocument/2006/relationships/image" Target="../media/image12.svg"/><Relationship Id="rId15" Type="http://schemas.openxmlformats.org/officeDocument/2006/relationships/image" Target="../media/image13.svg"/><Relationship Id="rId16" Type="http://schemas.openxmlformats.org/officeDocument/2006/relationships/image" Target="../media/image14.svg"/><Relationship Id="rId17" Type="http://schemas.openxmlformats.org/officeDocument/2006/relationships/image" Target="../media/image15.svg"/><Relationship Id="rId18" Type="http://schemas.openxmlformats.org/officeDocument/2006/relationships/image" Target="../media/image16.svg"/><Relationship Id="rId19" Type="http://schemas.openxmlformats.org/officeDocument/2006/relationships/image" Target="../media/image17.svg"/><Relationship Id="rId20" Type="http://schemas.openxmlformats.org/officeDocument/2006/relationships/image" Target="../media/image18.svg"/><Relationship Id="rId21" Type="http://schemas.openxmlformats.org/officeDocument/2006/relationships/image" Target="../media/image19.svg"/><Relationship Id="rId22" Type="http://schemas.openxmlformats.org/officeDocument/2006/relationships/image" Target="../media/image20.svg"/><Relationship Id="rId23" Type="http://schemas.openxmlformats.org/officeDocument/2006/relationships/image" Target="../media/image2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svg"/><Relationship Id="rId14" Type="http://schemas.openxmlformats.org/officeDocument/2006/relationships/image" Target="../media/image12.svg"/><Relationship Id="rId15" Type="http://schemas.openxmlformats.org/officeDocument/2006/relationships/image" Target="../media/image13.svg"/><Relationship Id="rId16" Type="http://schemas.openxmlformats.org/officeDocument/2006/relationships/image" Target="../media/image14.svg"/><Relationship Id="rId17" Type="http://schemas.openxmlformats.org/officeDocument/2006/relationships/image" Target="../media/image15.svg"/><Relationship Id="rId18" Type="http://schemas.openxmlformats.org/officeDocument/2006/relationships/image" Target="../media/image16.svg"/><Relationship Id="rId19" Type="http://schemas.openxmlformats.org/officeDocument/2006/relationships/image" Target="../media/image17.svg"/><Relationship Id="rId20" Type="http://schemas.openxmlformats.org/officeDocument/2006/relationships/image" Target="../media/image18.svg"/><Relationship Id="rId21" Type="http://schemas.openxmlformats.org/officeDocument/2006/relationships/image" Target="../media/image19.svg"/><Relationship Id="rId22" Type="http://schemas.openxmlformats.org/officeDocument/2006/relationships/image" Target="../media/image20.svg"/><Relationship Id="rId23" Type="http://schemas.openxmlformats.org/officeDocument/2006/relationships/image" Target="../media/image2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AE9C-9177-1BCA-02C6-B5F37AD4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D700929E-2FE4-C392-99D9-183BF57F91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673133" y="0"/>
            <a:ext cx="15644835" cy="11430000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31D7B561-FA0A-E8DB-5600-A9A75E6AE3E4}"/>
              </a:ext>
            </a:extLst>
          </p:cNvPr>
          <p:cNvGrpSpPr/>
          <p:nvPr/>
        </p:nvGrpSpPr>
        <p:grpSpPr>
          <a:xfrm>
            <a:off x="16533752" y="9708787"/>
            <a:ext cx="3987401" cy="1917700"/>
            <a:chOff x="15784521" y="9019310"/>
            <a:chExt cx="3987401" cy="1917700"/>
          </a:xfrm>
        </p:grpSpPr>
        <p:pic>
          <p:nvPicPr>
            <p:cNvPr id="47" name="Image 2" descr=" ">
              <a:extLst>
                <a:ext uri="{FF2B5EF4-FFF2-40B4-BE49-F238E27FC236}">
                  <a16:creationId xmlns:a16="http://schemas.microsoft.com/office/drawing/2014/main" id="{5621811E-181D-ACE1-B49F-FDD741492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84521" y="9019310"/>
              <a:ext cx="3987401" cy="1917700"/>
            </a:xfrm>
            <a:prstGeom prst="rect">
              <a:avLst/>
            </a:prstGeom>
          </p:spPr>
        </p:pic>
        <p:pic>
          <p:nvPicPr>
            <p:cNvPr id="48" name="Image 3" descr=" ">
              <a:extLst>
                <a:ext uri="{FF2B5EF4-FFF2-40B4-BE49-F238E27FC236}">
                  <a16:creationId xmlns:a16="http://schemas.microsoft.com/office/drawing/2014/main" id="{66AA6A8D-4BED-B34C-B8C7-F1293FC1E3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326518" y="9528175"/>
              <a:ext cx="2903408" cy="844550"/>
            </a:xfrm>
            <a:prstGeom prst="rect">
              <a:avLst/>
            </a:prstGeom>
          </p:spPr>
        </p:pic>
        <p:pic>
          <p:nvPicPr>
            <p:cNvPr id="49" name="Image 4" descr=" ">
              <a:extLst>
                <a:ext uri="{FF2B5EF4-FFF2-40B4-BE49-F238E27FC236}">
                  <a16:creationId xmlns:a16="http://schemas.microsoft.com/office/drawing/2014/main" id="{DFFF2D9D-E408-BCCD-DA0B-69F74558D9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6468" y="9707753"/>
              <a:ext cx="216015" cy="202336"/>
            </a:xfrm>
            <a:prstGeom prst="rect">
              <a:avLst/>
            </a:prstGeom>
          </p:spPr>
        </p:pic>
        <p:pic>
          <p:nvPicPr>
            <p:cNvPr id="50" name="Image 5" descr=" ">
              <a:extLst>
                <a:ext uri="{FF2B5EF4-FFF2-40B4-BE49-F238E27FC236}">
                  <a16:creationId xmlns:a16="http://schemas.microsoft.com/office/drawing/2014/main" id="{C4D10228-F16E-7E8D-D8CC-FA0ABCB6EF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83656" y="9703664"/>
              <a:ext cx="192068" cy="210515"/>
            </a:xfrm>
            <a:prstGeom prst="rect">
              <a:avLst/>
            </a:prstGeom>
          </p:spPr>
        </p:pic>
        <p:pic>
          <p:nvPicPr>
            <p:cNvPr id="51" name="Image 6" descr=" ">
              <a:extLst>
                <a:ext uri="{FF2B5EF4-FFF2-40B4-BE49-F238E27FC236}">
                  <a16:creationId xmlns:a16="http://schemas.microsoft.com/office/drawing/2014/main" id="{8478945A-8008-E4B4-9AE7-FD100C16B1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100378" y="9707753"/>
              <a:ext cx="214415" cy="206604"/>
            </a:xfrm>
            <a:prstGeom prst="rect">
              <a:avLst/>
            </a:prstGeom>
          </p:spPr>
        </p:pic>
        <p:pic>
          <p:nvPicPr>
            <p:cNvPr id="52" name="Image 7" descr=" ">
              <a:extLst>
                <a:ext uri="{FF2B5EF4-FFF2-40B4-BE49-F238E27FC236}">
                  <a16:creationId xmlns:a16="http://schemas.microsoft.com/office/drawing/2014/main" id="{2023CC42-5DF1-1878-F5A7-91E222E4A5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335366" y="9707753"/>
              <a:ext cx="216015" cy="202336"/>
            </a:xfrm>
            <a:prstGeom prst="rect">
              <a:avLst/>
            </a:prstGeom>
          </p:spPr>
        </p:pic>
        <p:pic>
          <p:nvPicPr>
            <p:cNvPr id="53" name="Image 8" descr=" ">
              <a:extLst>
                <a:ext uri="{FF2B5EF4-FFF2-40B4-BE49-F238E27FC236}">
                  <a16:creationId xmlns:a16="http://schemas.microsoft.com/office/drawing/2014/main" id="{30F4A870-FDAF-02F5-D1B2-E5D823419E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554395" y="9707931"/>
              <a:ext cx="218675" cy="206426"/>
            </a:xfrm>
            <a:prstGeom prst="rect">
              <a:avLst/>
            </a:prstGeom>
          </p:spPr>
        </p:pic>
        <p:pic>
          <p:nvPicPr>
            <p:cNvPr id="54" name="Image 9" descr=" ">
              <a:extLst>
                <a:ext uri="{FF2B5EF4-FFF2-40B4-BE49-F238E27FC236}">
                  <a16:creationId xmlns:a16="http://schemas.microsoft.com/office/drawing/2014/main" id="{14785177-99F6-8406-37C7-0F6220F5C8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791690" y="9707753"/>
              <a:ext cx="215835" cy="202336"/>
            </a:xfrm>
            <a:prstGeom prst="rect">
              <a:avLst/>
            </a:prstGeom>
          </p:spPr>
        </p:pic>
        <p:pic>
          <p:nvPicPr>
            <p:cNvPr id="55" name="Image 10" descr=" ">
              <a:extLst>
                <a:ext uri="{FF2B5EF4-FFF2-40B4-BE49-F238E27FC236}">
                  <a16:creationId xmlns:a16="http://schemas.microsoft.com/office/drawing/2014/main" id="{E86F4AC2-32E3-EBF1-E013-034961679B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648847" y="10024948"/>
              <a:ext cx="160855" cy="151663"/>
            </a:xfrm>
            <a:prstGeom prst="rect">
              <a:avLst/>
            </a:prstGeom>
          </p:spPr>
        </p:pic>
        <p:pic>
          <p:nvPicPr>
            <p:cNvPr id="56" name="Image 11" descr=" ">
              <a:extLst>
                <a:ext uri="{FF2B5EF4-FFF2-40B4-BE49-F238E27FC236}">
                  <a16:creationId xmlns:a16="http://schemas.microsoft.com/office/drawing/2014/main" id="{363F93EA-582A-E97C-BF09-7669773F18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818036" y="10024948"/>
              <a:ext cx="157488" cy="151663"/>
            </a:xfrm>
            <a:prstGeom prst="rect">
              <a:avLst/>
            </a:prstGeom>
          </p:spPr>
        </p:pic>
        <p:pic>
          <p:nvPicPr>
            <p:cNvPr id="57" name="Image 12" descr=" ">
              <a:extLst>
                <a:ext uri="{FF2B5EF4-FFF2-40B4-BE49-F238E27FC236}">
                  <a16:creationId xmlns:a16="http://schemas.microsoft.com/office/drawing/2014/main" id="{8956C112-2CF6-7AC2-B878-58C828C62A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988117" y="10024948"/>
              <a:ext cx="67927" cy="148641"/>
            </a:xfrm>
            <a:prstGeom prst="rect">
              <a:avLst/>
            </a:prstGeom>
          </p:spPr>
        </p:pic>
        <p:pic>
          <p:nvPicPr>
            <p:cNvPr id="58" name="Image 13" descr=" ">
              <a:extLst>
                <a:ext uri="{FF2B5EF4-FFF2-40B4-BE49-F238E27FC236}">
                  <a16:creationId xmlns:a16="http://schemas.microsoft.com/office/drawing/2014/main" id="{E81399A6-E057-19DE-7DA1-F928156CF4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062251" y="10024948"/>
              <a:ext cx="151455" cy="150952"/>
            </a:xfrm>
            <a:prstGeom prst="rect">
              <a:avLst/>
            </a:prstGeom>
          </p:spPr>
        </p:pic>
        <p:pic>
          <p:nvPicPr>
            <p:cNvPr id="59" name="Image 14" descr=" ">
              <a:extLst>
                <a:ext uri="{FF2B5EF4-FFF2-40B4-BE49-F238E27FC236}">
                  <a16:creationId xmlns:a16="http://schemas.microsoft.com/office/drawing/2014/main" id="{2CF6286E-9018-7FDE-2F7A-F9A580D491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217965" y="10024948"/>
              <a:ext cx="130174" cy="148641"/>
            </a:xfrm>
            <a:prstGeom prst="rect">
              <a:avLst/>
            </a:prstGeom>
          </p:spPr>
        </p:pic>
        <p:pic>
          <p:nvPicPr>
            <p:cNvPr id="60" name="Image 15" descr=" ">
              <a:extLst>
                <a:ext uri="{FF2B5EF4-FFF2-40B4-BE49-F238E27FC236}">
                  <a16:creationId xmlns:a16="http://schemas.microsoft.com/office/drawing/2014/main" id="{86AC3719-6DDB-A87B-B259-D7E5723BB7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366406" y="10024948"/>
              <a:ext cx="140461" cy="151663"/>
            </a:xfrm>
            <a:prstGeom prst="rect">
              <a:avLst/>
            </a:prstGeom>
          </p:spPr>
        </p:pic>
        <p:pic>
          <p:nvPicPr>
            <p:cNvPr id="61" name="Image 16" descr=" ">
              <a:extLst>
                <a:ext uri="{FF2B5EF4-FFF2-40B4-BE49-F238E27FC236}">
                  <a16:creationId xmlns:a16="http://schemas.microsoft.com/office/drawing/2014/main" id="{91EA0C20-2FD0-346B-FC14-58E7C00378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8518574" y="10021748"/>
              <a:ext cx="110134" cy="154864"/>
            </a:xfrm>
            <a:prstGeom prst="rect">
              <a:avLst/>
            </a:prstGeom>
          </p:spPr>
        </p:pic>
        <p:pic>
          <p:nvPicPr>
            <p:cNvPr id="62" name="Image 17" descr=" ">
              <a:extLst>
                <a:ext uri="{FF2B5EF4-FFF2-40B4-BE49-F238E27FC236}">
                  <a16:creationId xmlns:a16="http://schemas.microsoft.com/office/drawing/2014/main" id="{DE2B22F1-9732-3CFC-8D3C-E617CE4CB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8645909" y="10024948"/>
              <a:ext cx="67927" cy="148641"/>
            </a:xfrm>
            <a:prstGeom prst="rect">
              <a:avLst/>
            </a:prstGeom>
          </p:spPr>
        </p:pic>
        <p:pic>
          <p:nvPicPr>
            <p:cNvPr id="63" name="Image 18" descr=" ">
              <a:extLst>
                <a:ext uri="{FF2B5EF4-FFF2-40B4-BE49-F238E27FC236}">
                  <a16:creationId xmlns:a16="http://schemas.microsoft.com/office/drawing/2014/main" id="{565BFE62-E838-BAAF-F64B-EA3EB4511C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8725716" y="10024948"/>
              <a:ext cx="129114" cy="148641"/>
            </a:xfrm>
            <a:prstGeom prst="rect">
              <a:avLst/>
            </a:prstGeom>
          </p:spPr>
        </p:pic>
        <p:pic>
          <p:nvPicPr>
            <p:cNvPr id="64" name="Image 19" descr=" ">
              <a:extLst>
                <a:ext uri="{FF2B5EF4-FFF2-40B4-BE49-F238E27FC236}">
                  <a16:creationId xmlns:a16="http://schemas.microsoft.com/office/drawing/2014/main" id="{C8275B17-0F14-00B2-FB40-F0EB7EF5A0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8856783" y="10024948"/>
              <a:ext cx="148795" cy="148641"/>
            </a:xfrm>
            <a:prstGeom prst="rect">
              <a:avLst/>
            </a:prstGeom>
          </p:spPr>
        </p:pic>
        <p:pic>
          <p:nvPicPr>
            <p:cNvPr id="65" name="Image 20" descr=" ">
              <a:extLst>
                <a:ext uri="{FF2B5EF4-FFF2-40B4-BE49-F238E27FC236}">
                  <a16:creationId xmlns:a16="http://schemas.microsoft.com/office/drawing/2014/main" id="{E0ED8F84-FD33-6CAB-A978-6221A65FDC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543240" y="9705975"/>
              <a:ext cx="508644" cy="475971"/>
            </a:xfrm>
            <a:prstGeom prst="rect">
              <a:avLst/>
            </a:prstGeom>
          </p:spPr>
        </p:pic>
        <p:pic>
          <p:nvPicPr>
            <p:cNvPr id="66" name="Image 21" descr=" ">
              <a:extLst>
                <a:ext uri="{FF2B5EF4-FFF2-40B4-BE49-F238E27FC236}">
                  <a16:creationId xmlns:a16="http://schemas.microsoft.com/office/drawing/2014/main" id="{24E64BF6-8A4C-44E6-BFE2-F950D8AB2B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7045676" y="9705975"/>
              <a:ext cx="514671" cy="485750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998CBD0-C94B-E1D2-193A-02E8762D3906}"/>
              </a:ext>
            </a:extLst>
          </p:cNvPr>
          <p:cNvGrpSpPr/>
          <p:nvPr/>
        </p:nvGrpSpPr>
        <p:grpSpPr>
          <a:xfrm>
            <a:off x="0" y="3485053"/>
            <a:ext cx="20318413" cy="3057994"/>
            <a:chOff x="0" y="2837940"/>
            <a:chExt cx="20318413" cy="3057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4E2C52-549C-ED5F-6096-91D57DEE639A}"/>
                </a:ext>
              </a:extLst>
            </p:cNvPr>
            <p:cNvSpPr txBox="1"/>
            <p:nvPr/>
          </p:nvSpPr>
          <p:spPr>
            <a:xfrm>
              <a:off x="417821" y="2837940"/>
              <a:ext cx="19519969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0" b="1" i="1" dirty="0">
                  <a:ln>
                    <a:solidFill>
                      <a:srgbClr val="00101A"/>
                    </a:solidFill>
                  </a:ln>
                  <a:solidFill>
                    <a:srgbClr val="00101A"/>
                  </a:solidFill>
                  <a:effectLst>
                    <a:outerShdw blurRad="50800" dist="38100" dir="5400000" algn="t" rotWithShape="0">
                      <a:schemeClr val="bg1">
                        <a:alpha val="40000"/>
                      </a:schemeClr>
                    </a:outerShdw>
                  </a:effectLst>
                  <a:latin typeface="SUIT" panose="02020603050405020304" pitchFamily="18" charset="0"/>
                  <a:ea typeface="+mj-ea"/>
                  <a:cs typeface="Times New Roman" panose="02020603050405020304" pitchFamily="18" charset="0"/>
                </a:rPr>
                <a:t>CNN 분류기 구현과 AlexNet</a:t>
              </a:r>
            </a:p>
            <a:p>
              <a:pPr algn="ctr"/>
              <a:endParaRPr lang="en-US" altLang="ko-KR" sz="3500" b="1" i="1" dirty="0">
                <a:ln>
                  <a:solidFill>
                    <a:srgbClr val="00101A"/>
                  </a:solidFill>
                </a:ln>
                <a:solidFill>
                  <a:srgbClr val="00101A"/>
                </a:solidFill>
                <a:effectLst>
                  <a:outerShdw blurRad="50800" dist="38100" dir="5400000" algn="t" rotWithShape="0">
                    <a:schemeClr val="bg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ko-KR" sz="3500" b="1" i="1" dirty="0">
                  <a:ln>
                    <a:solidFill>
                      <a:srgbClr val="00101A"/>
                    </a:solidFill>
                  </a:ln>
                  <a:solidFill>
                    <a:srgbClr val="00101A"/>
                  </a:solidFill>
                  <a:effectLst>
                    <a:outerShdw blurRad="50800" dist="38100" dir="5400000" algn="t" rotWithShape="0">
                      <a:schemeClr val="bg1">
                        <a:alpha val="40000"/>
                      </a:schemeClr>
                    </a:outerShdw>
                  </a:effectLst>
                  <a:latin typeface="SUIT" panose="02020603050405020304" pitchFamily="18" charset="0"/>
                  <a:ea typeface="+mj-ea"/>
                  <a:cs typeface="Times New Roman" panose="02020603050405020304" pitchFamily="18" charset="0"/>
                </a:rPr>
                <a:t>Week 2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1511DDA-79A4-B7C5-4523-E5F3D5BAEB86}"/>
                </a:ext>
              </a:extLst>
            </p:cNvPr>
            <p:cNvGrpSpPr/>
            <p:nvPr/>
          </p:nvGrpSpPr>
          <p:grpSpPr>
            <a:xfrm>
              <a:off x="0" y="5120643"/>
              <a:ext cx="20318413" cy="775291"/>
              <a:chOff x="0" y="5120643"/>
              <a:chExt cx="20318413" cy="77529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5AABB-6D09-F55E-95B4-601A05A88E87}"/>
                  </a:ext>
                </a:extLst>
              </p:cNvPr>
              <p:cNvSpPr txBox="1"/>
              <p:nvPr/>
            </p:nvSpPr>
            <p:spPr>
              <a:xfrm>
                <a:off x="0" y="5341936"/>
                <a:ext cx="2031841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3000" b="1" i="1" dirty="0">
                    <a:solidFill>
                      <a:schemeClr val="accent1">
                        <a:lumMod val="75000"/>
                      </a:schemeClr>
                    </a:solidFill>
                    <a:latin typeface="SUIT" panose="02020603050405020304" pitchFamily="18" charset="0"/>
                    <a:cs typeface="Times New Roman" panose="02020603050405020304" pitchFamily="18" charset="0"/>
                  </a:rPr>
                  <a:t>학부연구생 류종걸</a:t>
                </a:r>
                <a:endParaRPr kumimoji="1" lang="en" altLang="ko-KR" sz="3000" b="1" i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" name="직선 연결선[R] 7">
                <a:extLst>
                  <a:ext uri="{FF2B5EF4-FFF2-40B4-BE49-F238E27FC236}">
                    <a16:creationId xmlns:a16="http://schemas.microsoft.com/office/drawing/2014/main" id="{30926F81-F865-7B40-A687-E2595A89F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3545" y="5120643"/>
                <a:ext cx="17168002" cy="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3914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2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목차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Week 2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977802" y="1783080"/>
            <a:ext cx="1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>
                <a:solidFill>
                  <a:srgbClr val="6B7280"/>
                </a:solidFill>
                <a:latin typeface="SUIT"/>
                <a:ea typeface="SUIT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7802" y="1810512"/>
            <a:ext cx="16562198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111827"/>
                </a:solidFill>
                <a:latin typeface="SUIT"/>
                <a:ea typeface="SUIT"/>
              </a:rPr>
              <a:t>손글씨 분류기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7802" y="2478024"/>
            <a:ext cx="16562198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0" dirty="0">
                <a:solidFill>
                  <a:srgbClr val="1F2937"/>
                </a:solidFill>
                <a:latin typeface="SUIT Medium"/>
                <a:ea typeface="SUIT Medium"/>
              </a:rPr>
              <a:t>IDX 파일 직접 파싱 / SimpleCNN 구조 / 학습 설정 / CrossEntropyLoss 실제 계산</a:t>
            </a:r>
            <a:endParaRPr sz="2500" b="0" dirty="0">
              <a:solidFill>
                <a:srgbClr val="1F2937"/>
              </a:solidFill>
              <a:latin typeface="SUIT Medium"/>
              <a:ea typeface="SUIT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77802" y="3227832"/>
            <a:ext cx="18362198" cy="1523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7802" y="3520439"/>
            <a:ext cx="1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>
                <a:solidFill>
                  <a:srgbClr val="6B7280"/>
                </a:solidFill>
                <a:latin typeface="SUIT"/>
                <a:ea typeface="SUI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7802" y="3547872"/>
            <a:ext cx="16562198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111827"/>
                </a:solidFill>
                <a:latin typeface="SUIT"/>
                <a:ea typeface="SUIT"/>
              </a:rPr>
              <a:t>학습 곡선과 과적합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7802" y="4215383"/>
            <a:ext cx="1656219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기본 학습 결과 / Dropout 비교 / 학습률 비교 (시드 3개)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7802" y="4965192"/>
            <a:ext cx="18362198" cy="1523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7802" y="5257800"/>
            <a:ext cx="1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>
                <a:solidFill>
                  <a:srgbClr val="6B7280"/>
                </a:solidFill>
                <a:latin typeface="SUIT"/>
                <a:ea typeface="SUIT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7802" y="5285232"/>
            <a:ext cx="16562198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dirty="0" err="1">
                <a:solidFill>
                  <a:srgbClr val="111827"/>
                </a:solidFill>
                <a:latin typeface="SUIT"/>
                <a:ea typeface="SUIT"/>
              </a:rPr>
              <a:t>오답 분석</a:t>
            </a:r>
            <a:endParaRPr sz="4000" b="1" dirty="0">
              <a:solidFill>
                <a:srgbClr val="111827"/>
              </a:solidFill>
              <a:latin typeface="SUIT"/>
              <a:ea typeface="SUI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7802" y="5952744"/>
            <a:ext cx="1656219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많이 헷갈린 쌍 / 클래스별 정확도 / 확신하고 틀린 사진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7802" y="6702552"/>
            <a:ext cx="18362198" cy="1523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7802" y="6995159"/>
            <a:ext cx="1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>
                <a:solidFill>
                  <a:srgbClr val="6B7280"/>
                </a:solidFill>
                <a:latin typeface="SUIT"/>
                <a:ea typeface="SUIT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7802" y="7022592"/>
            <a:ext cx="16562198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dirty="0" err="1">
                <a:solidFill>
                  <a:srgbClr val="111827"/>
                </a:solidFill>
                <a:latin typeface="SUIT"/>
                <a:ea typeface="SUIT"/>
              </a:rPr>
              <a:t>AlexNet 논문</a:t>
            </a:r>
            <a:endParaRPr sz="4000" b="1" dirty="0">
              <a:solidFill>
                <a:srgbClr val="111827"/>
              </a:solidFill>
              <a:latin typeface="SUIT"/>
              <a:ea typeface="SUI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7802" y="7690104"/>
            <a:ext cx="1656219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논문 개요 / 핵심 기여 3가지 / 직접 구현 결과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7802" y="8439912"/>
            <a:ext cx="18362198" cy="1523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7802" y="8732519"/>
            <a:ext cx="1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6B7280"/>
                </a:solidFill>
                <a:latin typeface="SUIT"/>
                <a:ea typeface="SUIT"/>
              </a:rPr>
              <a:t>부록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7802" y="8759951"/>
            <a:ext cx="16562198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dirty="0" err="1">
                <a:solidFill>
                  <a:srgbClr val="111827"/>
                </a:solidFill>
                <a:latin typeface="SUIT"/>
                <a:ea typeface="SUIT"/>
              </a:rPr>
              <a:t>CIFAR-10 오답 분석</a:t>
            </a:r>
            <a:endParaRPr sz="4000" b="1" dirty="0">
              <a:solidFill>
                <a:srgbClr val="111827"/>
              </a:solidFill>
              <a:latin typeface="SUIT"/>
              <a:ea typeface="SUI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7802" y="9427463"/>
            <a:ext cx="1656219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혼동 행렬 / 많이 헷갈린 쌍 / MNIST 와 비교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7802" y="10177272"/>
            <a:ext cx="18362198" cy="1523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66900"/>
            <a:ext cx="20317968" cy="9563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44742" y="3716387"/>
            <a:ext cx="9682640" cy="321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0" b="1">
                <a:solidFill>
                  <a:srgbClr val="00101A">
                    <a:alpha val="100000"/>
                  </a:srgbClr>
                </a:solidFill>
                <a:latin typeface="KoPubWorldDotum Bold" pitchFamily="34" charset="0"/>
                <a:ea typeface="KoPubWorldDotum Bold" pitchFamily="34" charset="-122"/>
                <a:cs typeface="KoPubWorldDotum Bold" pitchFamily="34" charset="-120"/>
              </a:rPr>
              <a:t>감사합니다</a:t>
            </a:r>
            <a:endParaRPr lang="en-US" sz="13500" b="1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C010602-7D47-7FC2-5149-76CC43AAB7A5}"/>
              </a:ext>
            </a:extLst>
          </p:cNvPr>
          <p:cNvGrpSpPr/>
          <p:nvPr/>
        </p:nvGrpSpPr>
        <p:grpSpPr>
          <a:xfrm>
            <a:off x="16479019" y="9634428"/>
            <a:ext cx="3987401" cy="1917700"/>
            <a:chOff x="15784521" y="9019310"/>
            <a:chExt cx="3987401" cy="1917700"/>
          </a:xfrm>
        </p:grpSpPr>
        <p:pic>
          <p:nvPicPr>
            <p:cNvPr id="30" name="Image 2" descr=" ">
              <a:extLst>
                <a:ext uri="{FF2B5EF4-FFF2-40B4-BE49-F238E27FC236}">
                  <a16:creationId xmlns:a16="http://schemas.microsoft.com/office/drawing/2014/main" id="{D22760CD-5D16-E2F0-2C5D-362C65EA5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84521" y="9019310"/>
              <a:ext cx="3987401" cy="1917700"/>
            </a:xfrm>
            <a:prstGeom prst="rect">
              <a:avLst/>
            </a:prstGeom>
          </p:spPr>
        </p:pic>
        <p:pic>
          <p:nvPicPr>
            <p:cNvPr id="31" name="Image 3" descr=" ">
              <a:extLst>
                <a:ext uri="{FF2B5EF4-FFF2-40B4-BE49-F238E27FC236}">
                  <a16:creationId xmlns:a16="http://schemas.microsoft.com/office/drawing/2014/main" id="{019C7ADE-ABD0-A2A1-ED28-B7EFB1E401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326518" y="9528175"/>
              <a:ext cx="2903408" cy="844550"/>
            </a:xfrm>
            <a:prstGeom prst="rect">
              <a:avLst/>
            </a:prstGeom>
          </p:spPr>
        </p:pic>
        <p:pic>
          <p:nvPicPr>
            <p:cNvPr id="32" name="Image 4" descr=" ">
              <a:extLst>
                <a:ext uri="{FF2B5EF4-FFF2-40B4-BE49-F238E27FC236}">
                  <a16:creationId xmlns:a16="http://schemas.microsoft.com/office/drawing/2014/main" id="{DFB0B393-BD83-9812-24F4-CAB74BBC8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6468" y="9707753"/>
              <a:ext cx="216015" cy="202336"/>
            </a:xfrm>
            <a:prstGeom prst="rect">
              <a:avLst/>
            </a:prstGeom>
          </p:spPr>
        </p:pic>
        <p:pic>
          <p:nvPicPr>
            <p:cNvPr id="33" name="Image 5" descr=" ">
              <a:extLst>
                <a:ext uri="{FF2B5EF4-FFF2-40B4-BE49-F238E27FC236}">
                  <a16:creationId xmlns:a16="http://schemas.microsoft.com/office/drawing/2014/main" id="{F2D33307-1288-7A4D-A9E2-D3736C2C9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83656" y="9703664"/>
              <a:ext cx="192068" cy="210515"/>
            </a:xfrm>
            <a:prstGeom prst="rect">
              <a:avLst/>
            </a:prstGeom>
          </p:spPr>
        </p:pic>
        <p:pic>
          <p:nvPicPr>
            <p:cNvPr id="34" name="Image 6" descr=" ">
              <a:extLst>
                <a:ext uri="{FF2B5EF4-FFF2-40B4-BE49-F238E27FC236}">
                  <a16:creationId xmlns:a16="http://schemas.microsoft.com/office/drawing/2014/main" id="{03358926-AAD0-A5DD-183C-C4E8FD67ED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100378" y="9707753"/>
              <a:ext cx="214415" cy="206604"/>
            </a:xfrm>
            <a:prstGeom prst="rect">
              <a:avLst/>
            </a:prstGeom>
          </p:spPr>
        </p:pic>
        <p:pic>
          <p:nvPicPr>
            <p:cNvPr id="35" name="Image 7" descr=" ">
              <a:extLst>
                <a:ext uri="{FF2B5EF4-FFF2-40B4-BE49-F238E27FC236}">
                  <a16:creationId xmlns:a16="http://schemas.microsoft.com/office/drawing/2014/main" id="{104E3577-7D49-2030-A653-36EE742AD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335366" y="9707753"/>
              <a:ext cx="216015" cy="202336"/>
            </a:xfrm>
            <a:prstGeom prst="rect">
              <a:avLst/>
            </a:prstGeom>
          </p:spPr>
        </p:pic>
        <p:pic>
          <p:nvPicPr>
            <p:cNvPr id="36" name="Image 8" descr=" ">
              <a:extLst>
                <a:ext uri="{FF2B5EF4-FFF2-40B4-BE49-F238E27FC236}">
                  <a16:creationId xmlns:a16="http://schemas.microsoft.com/office/drawing/2014/main" id="{A581133A-2F80-55F5-3F99-C828E5FBF1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554395" y="9707931"/>
              <a:ext cx="218675" cy="206426"/>
            </a:xfrm>
            <a:prstGeom prst="rect">
              <a:avLst/>
            </a:prstGeom>
          </p:spPr>
        </p:pic>
        <p:pic>
          <p:nvPicPr>
            <p:cNvPr id="37" name="Image 9" descr=" ">
              <a:extLst>
                <a:ext uri="{FF2B5EF4-FFF2-40B4-BE49-F238E27FC236}">
                  <a16:creationId xmlns:a16="http://schemas.microsoft.com/office/drawing/2014/main" id="{C6004468-406F-766C-0649-094EC106B1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791690" y="9707753"/>
              <a:ext cx="215835" cy="202336"/>
            </a:xfrm>
            <a:prstGeom prst="rect">
              <a:avLst/>
            </a:prstGeom>
          </p:spPr>
        </p:pic>
        <p:pic>
          <p:nvPicPr>
            <p:cNvPr id="38" name="Image 10" descr=" ">
              <a:extLst>
                <a:ext uri="{FF2B5EF4-FFF2-40B4-BE49-F238E27FC236}">
                  <a16:creationId xmlns:a16="http://schemas.microsoft.com/office/drawing/2014/main" id="{40285C1E-BB14-239E-A086-00C5F0F7F0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648847" y="10024948"/>
              <a:ext cx="160855" cy="151663"/>
            </a:xfrm>
            <a:prstGeom prst="rect">
              <a:avLst/>
            </a:prstGeom>
          </p:spPr>
        </p:pic>
        <p:pic>
          <p:nvPicPr>
            <p:cNvPr id="39" name="Image 11" descr=" ">
              <a:extLst>
                <a:ext uri="{FF2B5EF4-FFF2-40B4-BE49-F238E27FC236}">
                  <a16:creationId xmlns:a16="http://schemas.microsoft.com/office/drawing/2014/main" id="{71189673-5AE0-190E-E8E1-7FFCBBFD1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818036" y="10024948"/>
              <a:ext cx="157488" cy="151663"/>
            </a:xfrm>
            <a:prstGeom prst="rect">
              <a:avLst/>
            </a:prstGeom>
          </p:spPr>
        </p:pic>
        <p:pic>
          <p:nvPicPr>
            <p:cNvPr id="40" name="Image 12" descr=" ">
              <a:extLst>
                <a:ext uri="{FF2B5EF4-FFF2-40B4-BE49-F238E27FC236}">
                  <a16:creationId xmlns:a16="http://schemas.microsoft.com/office/drawing/2014/main" id="{0E184C5A-2B57-407B-A56A-F71E5D39CE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988117" y="10024948"/>
              <a:ext cx="67927" cy="148641"/>
            </a:xfrm>
            <a:prstGeom prst="rect">
              <a:avLst/>
            </a:prstGeom>
          </p:spPr>
        </p:pic>
        <p:pic>
          <p:nvPicPr>
            <p:cNvPr id="41" name="Image 13" descr=" ">
              <a:extLst>
                <a:ext uri="{FF2B5EF4-FFF2-40B4-BE49-F238E27FC236}">
                  <a16:creationId xmlns:a16="http://schemas.microsoft.com/office/drawing/2014/main" id="{4A7EA7B7-0463-9167-B11C-08529BD3C8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062251" y="10024948"/>
              <a:ext cx="151455" cy="150952"/>
            </a:xfrm>
            <a:prstGeom prst="rect">
              <a:avLst/>
            </a:prstGeom>
          </p:spPr>
        </p:pic>
        <p:pic>
          <p:nvPicPr>
            <p:cNvPr id="42" name="Image 14" descr=" ">
              <a:extLst>
                <a:ext uri="{FF2B5EF4-FFF2-40B4-BE49-F238E27FC236}">
                  <a16:creationId xmlns:a16="http://schemas.microsoft.com/office/drawing/2014/main" id="{7E2E14C7-2B26-9ED5-5E23-0CC240D773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217965" y="10024948"/>
              <a:ext cx="130174" cy="148641"/>
            </a:xfrm>
            <a:prstGeom prst="rect">
              <a:avLst/>
            </a:prstGeom>
          </p:spPr>
        </p:pic>
        <p:pic>
          <p:nvPicPr>
            <p:cNvPr id="43" name="Image 15" descr=" ">
              <a:extLst>
                <a:ext uri="{FF2B5EF4-FFF2-40B4-BE49-F238E27FC236}">
                  <a16:creationId xmlns:a16="http://schemas.microsoft.com/office/drawing/2014/main" id="{ACD2E3C2-533C-5017-131E-ECD184A62D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366406" y="10024948"/>
              <a:ext cx="140461" cy="151663"/>
            </a:xfrm>
            <a:prstGeom prst="rect">
              <a:avLst/>
            </a:prstGeom>
          </p:spPr>
        </p:pic>
        <p:pic>
          <p:nvPicPr>
            <p:cNvPr id="44" name="Image 16" descr=" ">
              <a:extLst>
                <a:ext uri="{FF2B5EF4-FFF2-40B4-BE49-F238E27FC236}">
                  <a16:creationId xmlns:a16="http://schemas.microsoft.com/office/drawing/2014/main" id="{057EF1E8-971F-DAB3-1C0B-B80EE4862F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8518574" y="10021748"/>
              <a:ext cx="110134" cy="154864"/>
            </a:xfrm>
            <a:prstGeom prst="rect">
              <a:avLst/>
            </a:prstGeom>
          </p:spPr>
        </p:pic>
        <p:pic>
          <p:nvPicPr>
            <p:cNvPr id="45" name="Image 17" descr=" ">
              <a:extLst>
                <a:ext uri="{FF2B5EF4-FFF2-40B4-BE49-F238E27FC236}">
                  <a16:creationId xmlns:a16="http://schemas.microsoft.com/office/drawing/2014/main" id="{560AFD73-B143-E33E-64D2-0B20153C1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8645909" y="10024948"/>
              <a:ext cx="67927" cy="148641"/>
            </a:xfrm>
            <a:prstGeom prst="rect">
              <a:avLst/>
            </a:prstGeom>
          </p:spPr>
        </p:pic>
        <p:pic>
          <p:nvPicPr>
            <p:cNvPr id="46" name="Image 18" descr=" ">
              <a:extLst>
                <a:ext uri="{FF2B5EF4-FFF2-40B4-BE49-F238E27FC236}">
                  <a16:creationId xmlns:a16="http://schemas.microsoft.com/office/drawing/2014/main" id="{5CE12CCD-2FA0-8EDA-68DD-F0D81C914A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8725716" y="10024948"/>
              <a:ext cx="129114" cy="148641"/>
            </a:xfrm>
            <a:prstGeom prst="rect">
              <a:avLst/>
            </a:prstGeom>
          </p:spPr>
        </p:pic>
        <p:pic>
          <p:nvPicPr>
            <p:cNvPr id="47" name="Image 19" descr=" ">
              <a:extLst>
                <a:ext uri="{FF2B5EF4-FFF2-40B4-BE49-F238E27FC236}">
                  <a16:creationId xmlns:a16="http://schemas.microsoft.com/office/drawing/2014/main" id="{C034D148-5241-C61E-4024-9A7D8A0D0B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8856783" y="10024948"/>
              <a:ext cx="148795" cy="148641"/>
            </a:xfrm>
            <a:prstGeom prst="rect">
              <a:avLst/>
            </a:prstGeom>
          </p:spPr>
        </p:pic>
        <p:pic>
          <p:nvPicPr>
            <p:cNvPr id="48" name="Image 20" descr=" ">
              <a:extLst>
                <a:ext uri="{FF2B5EF4-FFF2-40B4-BE49-F238E27FC236}">
                  <a16:creationId xmlns:a16="http://schemas.microsoft.com/office/drawing/2014/main" id="{DA5CDDA2-F744-83E6-5F39-AE7ECE92B7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543240" y="9705975"/>
              <a:ext cx="508644" cy="475971"/>
            </a:xfrm>
            <a:prstGeom prst="rect">
              <a:avLst/>
            </a:prstGeom>
          </p:spPr>
        </p:pic>
        <p:pic>
          <p:nvPicPr>
            <p:cNvPr id="49" name="Image 21" descr=" ">
              <a:extLst>
                <a:ext uri="{FF2B5EF4-FFF2-40B4-BE49-F238E27FC236}">
                  <a16:creationId xmlns:a16="http://schemas.microsoft.com/office/drawing/2014/main" id="{737E2B3D-97D4-968F-8A21-F1FABFCD64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7045676" y="9705975"/>
              <a:ext cx="514671" cy="485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데이터 파이프라인: 원본 파일 직접 파싱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01 손글씨 분류기 구현</a:t>
              </a:r>
            </a:p>
          </p:txBody>
        </p:sp>
      </p:grpSp>
      <p:sp>
        <p:nvSpPr>
          <p:cNvPr id="21" name="Head"/>
          <p:cNvSpPr txBox="1"/>
          <p:nvPr/>
        </p:nvSpPr>
        <p:spPr>
          <a:xfrm>
            <a:off x="978408" y="1600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IDX 파일 구조 (train-images-idx3-ubyte, big-endian)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" y="23317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111827"/>
                </a:solidFill>
                <a:latin typeface="SUIT"/>
                <a:ea typeface="SUIT"/>
              </a:rPr>
              <a:t>magic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4B · 2051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23317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111827"/>
                </a:solidFill>
                <a:latin typeface="SUIT"/>
                <a:ea typeface="SUIT"/>
              </a:rPr>
              <a:t>N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4B · 60000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3288" y="23317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111827"/>
                </a:solidFill>
                <a:latin typeface="SUIT"/>
                <a:ea typeface="SUIT"/>
              </a:rPr>
              <a:t>rows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4B · 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23317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111827"/>
                </a:solidFill>
                <a:latin typeface="SUIT"/>
                <a:ea typeface="SUIT"/>
              </a:rPr>
              <a:t>cols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4B · 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88167" y="2331720"/>
            <a:ext cx="8851392" cy="10515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111827"/>
                </a:solidFill>
                <a:latin typeface="SUIT"/>
                <a:ea typeface="SUIT"/>
              </a:rPr>
              <a:t>pixels ...</a:t>
            </a:r>
          </a:p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1B × 60000×28×28 (0~255)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978408" y="347472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← 헤더 16바이트: np.frombuffer(dtype="&gt;i4", count=4) →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0488168" y="3474720"/>
            <a:ext cx="8851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offset=16 부터 uint8 로 읽고 reshape(N, 28, 28)</a:t>
            </a:r>
          </a:p>
        </p:txBody>
      </p:sp>
      <p:sp>
        <p:nvSpPr>
          <p:cNvPr id="29" name="Head"/>
          <p:cNvSpPr txBox="1"/>
          <p:nvPr/>
        </p:nvSpPr>
        <p:spPr>
          <a:xfrm>
            <a:off x="978408" y="4160520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파싱 핵심 3가지</a:t>
            </a:r>
          </a:p>
        </p:txBody>
      </p:sp>
      <p:sp>
        <p:nvSpPr>
          <p:cNvPr id="30" name="Bullets"/>
          <p:cNvSpPr txBox="1"/>
          <p:nvPr/>
        </p:nvSpPr>
        <p:spPr>
          <a:xfrm>
            <a:off x="978408" y="47548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&gt;i4</a:t>
            </a: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 : big-endian 4바이트 정수. PC(little-endian)에서 그냥 읽으면 60000 → 1,625,948,160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magic number 검증</a:t>
            </a: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 : 이미지 2051 / 라벨 2049. 다른 파일이면 바로 assert 오류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정규화</a:t>
            </a: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 : /255 → (x − 0.1307) / 0.3081, unsqueeze(0) 로 (1, 28, 28)</a:t>
            </a:r>
          </a:p>
        </p:txBody>
      </p:sp>
      <p:sp>
        <p:nvSpPr>
          <p:cNvPr id="31" name="Head"/>
          <p:cNvSpPr txBox="1"/>
          <p:nvPr/>
        </p:nvSpPr>
        <p:spPr>
          <a:xfrm>
            <a:off x="10515600" y="41605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Custom Dataset 3요소 → DataLoader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0515600" y="4800600"/>
          <a:ext cx="88239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1100"/>
                <a:gridCol w="6372860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함수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MNISTDataset 에서 하는 일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__init__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IDX 파일 다운로드·파싱 → 배열로 메모리에 저장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__len__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60000 (학습) / 10000 (테스트)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__getitem__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idx 번째 이미지 정규화 후 (텐서, 라벨) 반환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DataLoader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batch 128, shuffle=True, num_workers=4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978408" y="964692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torchvision 한 줄 대신 직접 파싱 → 전용 로더가 없는 4주차 실제 데이터(HAM10000, UTKFace)에 대비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모델 구조: SimpleCNN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01 손글씨 분류기 구현</a:t>
              </a:r>
            </a:p>
          </p:txBody>
        </p:sp>
      </p:grpSp>
      <p:sp>
        <p:nvSpPr>
          <p:cNvPr id="21" name="Head"/>
          <p:cNvSpPr txBox="1"/>
          <p:nvPr/>
        </p:nvSpPr>
        <p:spPr>
          <a:xfrm>
            <a:off x="978408" y="1600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Conv2d → ReLU → MaxPool2d (3회 반복) → Flatten → Linear → ReLU → Linear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입력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1×28×28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23697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7588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Block 1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32×14×14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3445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336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Block 2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64×7×7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3193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Block 3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128×3×3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32941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76832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Flatten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1152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402689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46580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Linear+ReLU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256 (+Dropout)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6724376" y="285292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7163288" y="2377440"/>
            <a:ext cx="2212848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Linear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10 (logit)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978408" y="3794760"/>
            <a:ext cx="10305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Block = Conv 3×3 (padding 1) → ReLU → MaxPool 2×2   |   28 → 14 → 7 → 3 (7÷2 내림)</a:t>
            </a:r>
          </a:p>
        </p:txBody>
      </p:sp>
      <p:sp>
        <p:nvSpPr>
          <p:cNvPr id="36" name="Head"/>
          <p:cNvSpPr txBox="1"/>
          <p:nvPr/>
        </p:nvSpPr>
        <p:spPr>
          <a:xfrm>
            <a:off x="978408" y="44348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층별 파라미터 수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78408" y="5074920"/>
          <a:ext cx="96011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6966"/>
                <a:gridCol w="3452116"/>
                <a:gridCol w="3452116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층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계산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파라미터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Conv 1 / 2 / 3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in×out×3×3 + out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320 / 18,496 / 73,856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Linear 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B91C1C"/>
                          </a:solidFill>
                          <a:latin typeface="SUIT"/>
                          <a:ea typeface="SUIT"/>
                        </a:rPr>
                        <a:t>1152×256 + 256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B91C1C"/>
                          </a:solidFill>
                          <a:latin typeface="SUIT"/>
                          <a:ea typeface="SUIT"/>
                        </a:rPr>
                        <a:t>295,168 (76%)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Linear 2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256×10 + 10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2,570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합계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390,410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38" name="Head"/>
          <p:cNvSpPr txBox="1"/>
          <p:nvPr/>
        </p:nvSpPr>
        <p:spPr>
          <a:xfrm>
            <a:off x="11155680" y="4434840"/>
            <a:ext cx="81838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설계 이유</a:t>
            </a:r>
          </a:p>
        </p:txBody>
      </p:sp>
      <p:sp>
        <p:nvSpPr>
          <p:cNvPr id="39" name="Bullets"/>
          <p:cNvSpPr txBox="1"/>
          <p:nvPr/>
        </p:nvSpPr>
        <p:spPr>
          <a:xfrm>
            <a:off x="11155680" y="5029200"/>
            <a:ext cx="81838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3×3 필터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중심이 있는 최소 크기. 쌓으면 넓은 영역을 보면서 파라미터는 적음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채널 32→64→128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크기는 줄이고 조합 패턴 수는 늘림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Dropout 위치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파라미터 76%가 몰린 첫 Linear 뒤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softmax 없음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CrossEntropyLoss 안에서 계산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학습 설정과 재현성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01 손글씨 분류기 구현</a:t>
              </a:r>
            </a:p>
          </p:txBody>
        </p:sp>
      </p:grpSp>
      <p:sp>
        <p:nvSpPr>
          <p:cNvPr id="21" name="Head"/>
          <p:cNvSpPr txBox="1"/>
          <p:nvPr/>
        </p:nvSpPr>
        <p:spPr>
          <a:xfrm>
            <a:off x="978408" y="1600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하이퍼파라미터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78408" y="2240280"/>
          <a:ext cx="7863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2533"/>
                <a:gridCol w="4951306"/>
              </a:tblGrid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항목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값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Optimizer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Adam (lr 0.001)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Loss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CrossEntropyLoss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Batch / Epoch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128 / 10 (469 step / epoch)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Dropout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0.5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Device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RTX GPU (CUDA)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Head"/>
          <p:cNvSpPr txBox="1"/>
          <p:nvPr/>
        </p:nvSpPr>
        <p:spPr>
          <a:xfrm>
            <a:off x="9509760" y="1600200"/>
            <a:ext cx="9829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학습 5단계 (배치마다 반복)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240280"/>
            <a:ext cx="9829800" cy="3429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00" rIns="200000"/>
          <a:lstStyle/>
          <a:p>
            <a:r>
              <a:rPr sz="2200" b="0">
                <a:solidFill>
                  <a:srgbClr val="E5E7EB"/>
                </a:solidFill>
                <a:latin typeface="Consolas"/>
                <a:ea typeface="Consolas"/>
              </a:rPr>
              <a:t>output = model(x)</a:t>
            </a:r>
            <a:r>
              <a:rPr sz="2200" b="0">
                <a:solidFill>
                  <a:srgbClr val="6A9955"/>
                </a:solidFill>
                <a:latin typeface="Consolas"/>
                <a:ea typeface="Consolas"/>
              </a:rPr>
              <a:t>  # 1. 예측 (128, 10)</a:t>
            </a:r>
          </a:p>
          <a:p>
            <a:r>
              <a:rPr sz="2200" b="0">
                <a:solidFill>
                  <a:srgbClr val="E5E7EB"/>
                </a:solidFill>
                <a:latin typeface="Consolas"/>
                <a:ea typeface="Consolas"/>
              </a:rPr>
              <a:t>loss = criterion(output, y)</a:t>
            </a:r>
            <a:r>
              <a:rPr sz="2200" b="0">
                <a:solidFill>
                  <a:srgbClr val="6A9955"/>
                </a:solidFill>
                <a:latin typeface="Consolas"/>
                <a:ea typeface="Consolas"/>
              </a:rPr>
              <a:t>  # 2. 손실 계산</a:t>
            </a:r>
          </a:p>
          <a:p>
            <a:r>
              <a:rPr sz="2200" b="0">
                <a:solidFill>
                  <a:srgbClr val="E5E7EB"/>
                </a:solidFill>
                <a:latin typeface="Consolas"/>
                <a:ea typeface="Consolas"/>
              </a:rPr>
              <a:t>optimizer.zero_grad()</a:t>
            </a:r>
            <a:r>
              <a:rPr sz="2200" b="0">
                <a:solidFill>
                  <a:srgbClr val="6A9955"/>
                </a:solidFill>
                <a:latin typeface="Consolas"/>
                <a:ea typeface="Consolas"/>
              </a:rPr>
              <a:t>  # 3. 그래디언트 초기화</a:t>
            </a:r>
          </a:p>
          <a:p>
            <a:r>
              <a:rPr sz="2200" b="0">
                <a:solidFill>
                  <a:srgbClr val="E5E7EB"/>
                </a:solidFill>
                <a:latin typeface="Consolas"/>
                <a:ea typeface="Consolas"/>
              </a:rPr>
              <a:t>loss.backward()</a:t>
            </a:r>
            <a:r>
              <a:rPr sz="2200" b="0">
                <a:solidFill>
                  <a:srgbClr val="6A9955"/>
                </a:solidFill>
                <a:latin typeface="Consolas"/>
                <a:ea typeface="Consolas"/>
              </a:rPr>
              <a:t>  # 4. 역전파</a:t>
            </a:r>
          </a:p>
          <a:p>
            <a:r>
              <a:rPr sz="2200" b="0">
                <a:solidFill>
                  <a:srgbClr val="E5E7EB"/>
                </a:solidFill>
                <a:latin typeface="Consolas"/>
                <a:ea typeface="Consolas"/>
              </a:rPr>
              <a:t>optimizer.step()</a:t>
            </a:r>
            <a:r>
              <a:rPr sz="2200" b="0">
                <a:solidFill>
                  <a:srgbClr val="6A9955"/>
                </a:solidFill>
                <a:latin typeface="Consolas"/>
                <a:ea typeface="Consolas"/>
              </a:rPr>
              <a:t>  # 5. 가중치 업데이트</a:t>
            </a:r>
          </a:p>
        </p:txBody>
      </p:sp>
      <p:sp>
        <p:nvSpPr>
          <p:cNvPr id="25" name="Head"/>
          <p:cNvSpPr txBox="1"/>
          <p:nvPr/>
        </p:nvSpPr>
        <p:spPr>
          <a:xfrm>
            <a:off x="978408" y="6172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재현성: 시드 고정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978408" y="67665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랜덤이 쓰이는 곳 : 가중치 초기값 · shuffle 순서 · Dropout 이 끄는 뉴런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random / numpy / torch / cuda 시드 + DataLoader generator 고정, cudnn.deterministic = True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같은 시드로 두 번 실행 → 소수점 4자리까지 동일 (train loss 0.2153, test acc 0.9867)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93040" y="6720840"/>
            <a:ext cx="644652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동일 재현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seed 0 으로 2회 실행 결과가 완전히 일치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손실 함수: CrossEntropyLoss (MNIST 실제 계산)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01 손글씨 분류기 구현</a:t>
              </a:r>
            </a:p>
          </p:txBody>
        </p:sp>
      </p:grpSp>
      <p:sp>
        <p:nvSpPr>
          <p:cNvPr id="21" name="Head"/>
          <p:cNvSpPr txBox="1"/>
          <p:nvPr/>
        </p:nvSpPr>
        <p:spPr>
          <a:xfrm>
            <a:off x="978408" y="1600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학습된 모델로 테스트 사진 3장을 계산한 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" y="2240280"/>
            <a:ext cx="5760720" cy="27432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514600"/>
            <a:ext cx="2194560" cy="219456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4" name="TextBox"/>
          <p:cNvSpPr txBox="1"/>
          <p:nvPr/>
        </p:nvSpPr>
        <p:spPr>
          <a:xfrm>
            <a:off x="3675888" y="26974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정답 7 → 예측 7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3675888" y="333756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p(정답) ≈ 1.000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3675888" y="40690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SUIT"/>
                <a:ea typeface="SUIT"/>
              </a:rPr>
              <a:t>loss ≈ 0.000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2240280"/>
            <a:ext cx="5760720" cy="27432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e_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2514600"/>
            <a:ext cx="2194560" cy="219456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9" name="TextBox"/>
          <p:cNvSpPr txBox="1"/>
          <p:nvPr/>
        </p:nvSpPr>
        <p:spPr>
          <a:xfrm>
            <a:off x="9976104" y="26974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정답 9 → 예측 9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976104" y="333756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p(정답) = 0.845  (4 에 0.155)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9976104" y="40690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SUIT"/>
                <a:ea typeface="SUIT"/>
              </a:rPr>
              <a:t>loss = 0.169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578840" y="2240280"/>
            <a:ext cx="5760720" cy="27432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e_2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3160" y="2514600"/>
            <a:ext cx="2194560" cy="219456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34" name="TextBox"/>
          <p:cNvSpPr txBox="1"/>
          <p:nvPr/>
        </p:nvSpPr>
        <p:spPr>
          <a:xfrm>
            <a:off x="16276320" y="26974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정답 4 → 예측 9  ✗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6276320" y="333756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SUIT Medium"/>
                <a:ea typeface="SUIT Medium"/>
              </a:rPr>
              <a:t>p(정답) = 0.0096  (9 에 0.990)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6276320" y="40690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91C1C"/>
                </a:solidFill>
                <a:latin typeface="SUIT"/>
                <a:ea typeface="SUIT"/>
              </a:rPr>
              <a:t>loss = 4.64</a:t>
            </a:r>
          </a:p>
        </p:txBody>
      </p:sp>
      <p:sp>
        <p:nvSpPr>
          <p:cNvPr id="37" name="Head"/>
          <p:cNvSpPr txBox="1"/>
          <p:nvPr/>
        </p:nvSpPr>
        <p:spPr>
          <a:xfrm>
            <a:off x="978408" y="534924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계산 과정 (가운데 사진 : 정답 9)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" y="594360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① logit</a:t>
            </a:r>
          </a:p>
          <a:p>
            <a:pPr algn="ctr"/>
            <a:r>
              <a:rPr sz="1900" b="0">
                <a:solidFill>
                  <a:srgbClr val="6B7280"/>
                </a:solidFill>
                <a:latin typeface="SUIT Medium"/>
                <a:ea typeface="SUIT Medium"/>
              </a:rPr>
              <a:t>9 : 7.3 · 4 : 5.7
나머지 8개는 음수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175504" y="6492240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60720" y="594360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② softmax</a:t>
            </a:r>
          </a:p>
          <a:p>
            <a:pPr algn="ctr"/>
            <a:r>
              <a:rPr sz="1900" b="0">
                <a:solidFill>
                  <a:srgbClr val="6B7280"/>
                </a:solidFill>
                <a:latin typeface="SUIT Medium"/>
                <a:ea typeface="SUIT Medium"/>
              </a:rPr>
              <a:t>e^z / Σe^z
9 : 0.845 · 4 : 0.155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57816" y="6492240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43032" y="594360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③ 정답 칸</a:t>
            </a:r>
          </a:p>
          <a:p>
            <a:pPr algn="ctr"/>
            <a:r>
              <a:rPr sz="1900" b="0">
                <a:solidFill>
                  <a:srgbClr val="6B7280"/>
                </a:solidFill>
                <a:latin typeface="SUIT Medium"/>
                <a:ea typeface="SUIT Medium"/>
              </a:rPr>
              <a:t>정답 9 의 확률만 사용
p = 0.845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4740128" y="6492240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5325344" y="5943600"/>
            <a:ext cx="4023360" cy="14630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④ −log(p)</a:t>
            </a:r>
          </a:p>
          <a:p>
            <a:pPr algn="ctr"/>
            <a:r>
              <a:rPr sz="1900" b="0">
                <a:solidFill>
                  <a:srgbClr val="6B7280"/>
                </a:solidFill>
                <a:latin typeface="SUIT Medium"/>
                <a:ea typeface="SUIT Medium"/>
              </a:rPr>
              <a:t>loss = −log 0.845
= 0.169</a:t>
            </a:r>
          </a:p>
        </p:txBody>
      </p:sp>
      <p:sp>
        <p:nvSpPr>
          <p:cNvPr id="45" name="Bullets"/>
          <p:cNvSpPr txBox="1"/>
          <p:nvPr/>
        </p:nvSpPr>
        <p:spPr>
          <a:xfrm>
            <a:off x="978408" y="768096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확신하고 맞히면 loss ≈ 0,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확신하고 틀리면 큰 벌점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(4 → 9 를 99% 확신 → 4.64)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테스트 1만 장 평균 loss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0.0187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97.4% 의 사진이 loss &lt; 0.01,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오답 52장이 전체 loss 의 84%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를 차지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" y="964692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분류는 값의 차이(MSE)가 아니라 '정답에 준 확률'로 계산 → test loss 상승 = 소수 오답에 대한 자신감 과잉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기본 학습 결과 (TensorBoard)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02 학습 곡선과 과적합</a:t>
              </a:r>
            </a:p>
          </p:txBody>
        </p:sp>
      </p:grpSp>
      <p:pic>
        <p:nvPicPr>
          <p:cNvPr id="21" name="Picture 20" descr="mnist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776984"/>
            <a:ext cx="12435840" cy="4767072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13898880" y="16916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99.31%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최종 test 정확도 (10 epoch)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898880" y="42062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98.77%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1 epoch 만에 도달한 test 정확도</a:t>
            </a:r>
          </a:p>
        </p:txBody>
      </p:sp>
      <p:sp>
        <p:nvSpPr>
          <p:cNvPr id="24" name="Head"/>
          <p:cNvSpPr txBox="1"/>
          <p:nvPr/>
        </p:nvSpPr>
        <p:spPr>
          <a:xfrm>
            <a:off x="978408" y="699516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관찰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978408" y="758952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1~5 epoch 은 train &lt; test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train 은 에포크 도중 변하는 모델의 평균 + Dropout 핸디캡, test 는 완성된 모델로 측정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7 epoch 이후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: train loss 0.0185 → 0.0147 로 계속 감소, test loss 는 0.0233(최저) → 0.0272 로 다시 상승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TensorBoard Smoothing(0.6)은 점이 10개뿐일 때 곡선을 늦게 따라가므로 0 으로 놓고 해석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78408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test 정확도는 99.2~99.3%에서 정체 → </a:t>
            </a:r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약한 과적합 조짐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. Dropout 비교 실험으로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실험 설계: 변인 통제 + 시드 3개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02 학습 곡선과 과적합</a:t>
              </a:r>
            </a:p>
          </p:txBody>
        </p:sp>
      </p:grpSp>
      <p:sp>
        <p:nvSpPr>
          <p:cNvPr id="21" name="Head"/>
          <p:cNvSpPr txBox="1"/>
          <p:nvPr/>
        </p:nvSpPr>
        <p:spPr>
          <a:xfrm>
            <a:off x="978408" y="160020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원칙</a:t>
            </a:r>
          </a:p>
        </p:txBody>
      </p:sp>
      <p:sp>
        <p:nvSpPr>
          <p:cNvPr id="22" name="Bullets"/>
          <p:cNvSpPr txBox="1"/>
          <p:nvPr/>
        </p:nvSpPr>
        <p:spPr>
          <a:xfrm>
            <a:off x="978408" y="219456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한 번에 하나만</a:t>
            </a: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 바꾸고 나머지는 고정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값마다 </a:t>
            </a:r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seed 0 / 1 / 2</a:t>
            </a: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 로 반복 → 평균 ± 표준편차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흔들림(표준편차)보다 큰 차이만 '진짜 차이'로 판단</a:t>
            </a:r>
          </a:p>
          <a:p>
            <a:pPr marL="698500" indent="-349250">
              <a:spcBef>
                <a:spcPts val="800"/>
              </a:spcBef>
              <a:buChar char="–"/>
            </a:pPr>
            <a:r>
              <a:rPr sz="2100" b="0">
                <a:solidFill>
                  <a:srgbClr val="6B7280"/>
                </a:solidFill>
                <a:latin typeface="SUIT Medium"/>
                <a:ea typeface="SUIT Medium"/>
              </a:rPr>
              <a:t>시드 고정 = 같은 실험을 똑같이 재현</a:t>
            </a:r>
          </a:p>
          <a:p>
            <a:pPr marL="698500" indent="-349250">
              <a:spcBef>
                <a:spcPts val="800"/>
              </a:spcBef>
              <a:buChar char="–"/>
            </a:pPr>
            <a:r>
              <a:rPr sz="2100" b="0">
                <a:solidFill>
                  <a:srgbClr val="6B7280"/>
                </a:solidFill>
                <a:latin typeface="SUIT Medium"/>
                <a:ea typeface="SUIT Medium"/>
              </a:rPr>
              <a:t>여러 시드 = 결과가 운이 아닌지 확인</a:t>
            </a:r>
          </a:p>
        </p:txBody>
      </p:sp>
      <p:sp>
        <p:nvSpPr>
          <p:cNvPr id="23" name="Head"/>
          <p:cNvSpPr txBox="1"/>
          <p:nvPr/>
        </p:nvSpPr>
        <p:spPr>
          <a:xfrm>
            <a:off x="10058400" y="1600200"/>
            <a:ext cx="9281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실행한 실험 (MNIST, 10 epoch)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058400" y="2240280"/>
          <a:ext cx="9281159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6232"/>
                <a:gridCol w="3155594"/>
                <a:gridCol w="2227478"/>
                <a:gridCol w="2041855"/>
              </a:tblGrid>
              <a:tr h="5943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실험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바꾼 값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고정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실행 수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Dropout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0 / 0.25 / 0.5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lr 0.001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3 × 3 = 9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학습률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0.01 / 0.001 / 0.0001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dropout 0.5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3 × 3 = 9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TextBox"/>
          <p:cNvSpPr txBox="1"/>
          <p:nvPr/>
        </p:nvSpPr>
        <p:spPr>
          <a:xfrm>
            <a:off x="10058400" y="4206240"/>
            <a:ext cx="9281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그래프 읽는 법 : 선 = 시드 3개의 평균, 음영 = ± 표준편차</a:t>
            </a:r>
          </a:p>
        </p:txBody>
      </p:sp>
      <p:sp>
        <p:nvSpPr>
          <p:cNvPr id="26" name="Head"/>
          <p:cNvSpPr txBox="1"/>
          <p:nvPr/>
        </p:nvSpPr>
        <p:spPr>
          <a:xfrm>
            <a:off x="978408" y="566928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한계 (알고 진행)</a:t>
            </a:r>
          </a:p>
        </p:txBody>
      </p:sp>
      <p:sp>
        <p:nvSpPr>
          <p:cNvPr id="27" name="Bullets"/>
          <p:cNvSpPr txBox="1"/>
          <p:nvPr/>
        </p:nvSpPr>
        <p:spPr>
          <a:xfrm>
            <a:off x="978408" y="626364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하나씩 바꾸는 방식은 하이퍼파라미터 간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상호작용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(예: lr × batch size)을 놓칠 수 있음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시드를 고정해도 설정이 바뀌면 랜덤 흐름이 완전히 같지는 않음 (batch 가 바뀌면 shuffle 순서도 달라짐)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best 모델을 test 셋으로 선택 → 원래는 validation 셋을 따로 떼어야 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" y="941832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이번 과제의 목적은 최적값 탐색보다 '각 하이퍼파라미터가 어떤 영향을 주는가' 이해 → one-factor 방식이 적합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실험 ①  Dropout: 과적합 해결 시도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02 학습 곡선과 과적합</a:t>
              </a:r>
            </a:p>
          </p:txBody>
        </p:sp>
      </p:grpSp>
      <p:pic>
        <p:nvPicPr>
          <p:cNvPr id="21" name="Picture 20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554480"/>
            <a:ext cx="11521439" cy="7680959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Head"/>
          <p:cNvSpPr txBox="1"/>
          <p:nvPr/>
        </p:nvSpPr>
        <p:spPr>
          <a:xfrm>
            <a:off x="12893040" y="1600200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결과 (best test acc)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2893040" y="2240280"/>
          <a:ext cx="644651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937"/>
                <a:gridCol w="4223582"/>
              </a:tblGrid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dropout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평균 ± 표준편차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99.27 ± 0.01%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0.25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99.35 ± 0.05%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0.5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B91C1C"/>
                          </a:solidFill>
                          <a:latin typeface="SUIT"/>
                          <a:ea typeface="SUIT"/>
                        </a:rPr>
                        <a:t>99.43 ± 0.06%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Head"/>
          <p:cNvSpPr txBox="1"/>
          <p:nvPr/>
        </p:nvSpPr>
        <p:spPr>
          <a:xfrm>
            <a:off x="12893040" y="4846320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해석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12893040" y="5440680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dropout 0 : </a:t>
            </a:r>
            <a:r>
              <a:rPr sz="2100" b="1">
                <a:solidFill>
                  <a:srgbClr val="111827"/>
                </a:solidFill>
                <a:latin typeface="SUIT"/>
                <a:ea typeface="SUIT"/>
              </a:rPr>
              <a:t>train 은 가장 높고 test 는 가장 낮음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test loss 가 3 epoch 이후 0.03 근처에서 정체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0 vs 0.5 범위가 겹치지 않음 → 진짜 차이</a:t>
            </a:r>
          </a:p>
          <a:p>
            <a:pPr marL="698500" indent="-349250">
              <a:spcBef>
                <a:spcPts val="800"/>
              </a:spcBef>
              <a:buChar char="–"/>
            </a:pPr>
            <a:r>
              <a:rPr sz="1900" b="0">
                <a:solidFill>
                  <a:srgbClr val="6B7280"/>
                </a:solidFill>
                <a:latin typeface="SUIT Medium"/>
                <a:ea typeface="SUIT Medium"/>
              </a:rPr>
              <a:t>단, 차이는 0.16%p 로 작음 (MNIST 가 쉬움)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55548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Dropout 은 train 에서 손해를 보고 test 에서 이득 → </a:t>
            </a:r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과적합 억제 효과 확인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실험 ②  학습률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02 학습 곡선과 과적합</a:t>
              </a:r>
            </a:p>
          </p:txBody>
        </p:sp>
      </p:grpSp>
      <p:pic>
        <p:nvPicPr>
          <p:cNvPr id="21" name="Picture 20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554480"/>
            <a:ext cx="11521439" cy="7680959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Head"/>
          <p:cNvSpPr txBox="1"/>
          <p:nvPr/>
        </p:nvSpPr>
        <p:spPr>
          <a:xfrm>
            <a:off x="12893040" y="1600200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결과 (best test acc)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2893040" y="2240280"/>
          <a:ext cx="644651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937"/>
                <a:gridCol w="4223582"/>
              </a:tblGrid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lr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평균 ± 표준편차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0.01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39.67 ± 40.05%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0.001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B91C1C"/>
                          </a:solidFill>
                          <a:latin typeface="SUIT"/>
                          <a:ea typeface="SUIT"/>
                        </a:rPr>
                        <a:t>99.43 ± 0.06%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0.0001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99.04 ± 0.08%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Head"/>
          <p:cNvSpPr txBox="1"/>
          <p:nvPr/>
        </p:nvSpPr>
        <p:spPr>
          <a:xfrm>
            <a:off x="12893040" y="4846320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lr 0.01 : 시드 2개가 학습 실패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12893040" y="5440680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seed 0 : 96.30% / seed 1, 2 : </a:t>
            </a:r>
            <a:r>
              <a:rPr sz="2100" b="1">
                <a:solidFill>
                  <a:srgbClr val="111827"/>
                </a:solidFill>
                <a:latin typeface="SUIT"/>
                <a:ea typeface="SUIT"/>
              </a:rPr>
              <a:t>11.35%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loss 2.30 = −log(0.1) → 10개 클래스에 똑같이 10%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11.35% = 테스트셋의 '1' 비율 (전부 1로 예측)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100" b="0">
                <a:solidFill>
                  <a:srgbClr val="1F2937"/>
                </a:solidFill>
                <a:latin typeface="SUIT Medium"/>
                <a:ea typeface="SUIT Medium"/>
              </a:rPr>
              <a:t>lr 0.0001 : 안정적이지만 10 epoch 로는 덜 내려옴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55548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같은 설정인데 </a:t>
            </a:r>
            <a:r>
              <a:rPr sz="2500" b="1">
                <a:solidFill>
                  <a:srgbClr val="111827"/>
                </a:solidFill>
                <a:latin typeface="SUIT"/>
                <a:ea typeface="SUIT"/>
              </a:rPr>
              <a:t>시드에 따라 성공·실패가 갈림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 → 시드 하나만 돌렸다면 정반대 결론 가능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무엇을 틀렸나: 많이 헷갈린 쌍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03 오답 분석</a:t>
              </a:r>
            </a:p>
          </p:txBody>
        </p:sp>
      </p:grpSp>
      <p:pic>
        <p:nvPicPr>
          <p:cNvPr id="21" name="Picture 20" descr="mnist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38" y="2011680"/>
            <a:ext cx="6249779" cy="726948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TextBox"/>
          <p:cNvSpPr txBox="1"/>
          <p:nvPr/>
        </p:nvSpPr>
        <p:spPr>
          <a:xfrm>
            <a:off x="978408" y="16002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정답 → 예측 (n = 장수), 숫자 = 틀린 답에 준 확률</a:t>
            </a:r>
          </a:p>
        </p:txBody>
      </p:sp>
      <p:pic>
        <p:nvPicPr>
          <p:cNvPr id="23" name="Picture 22" descr="2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19" y="1600200"/>
            <a:ext cx="9144000" cy="45720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4" name="Head"/>
          <p:cNvSpPr txBox="1"/>
          <p:nvPr/>
        </p:nvSpPr>
        <p:spPr>
          <a:xfrm>
            <a:off x="8412480" y="6446520"/>
            <a:ext cx="10927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요약 (dropout 0.5, seed 0 · 99.48%)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8412480" y="7040880"/>
            <a:ext cx="10927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1만 장 중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52장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오답. 어려운 숫자 :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5, 9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(99.0%), 6 (99.1%)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많이 헷갈린 쌍 :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5→3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(6장),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9→4 · 4→9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(각 4장), 7→2 · 6→1 · 6→0 (각 3장)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윗부분이 휜 5, 위가 닫힌 4, 가로획이 짧은 7, 고리가 작은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60120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헷갈리는 쌍은 사람도 헷갈리는 모양 (위가 닫힌 4 ↔ 9, 윗부분이 휜 5 → 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왜 틀렸나: 확신하고 틀린 사진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03 오답 분석</a:t>
              </a:r>
            </a:p>
          </p:txBody>
        </p:sp>
      </p:grpSp>
      <p:pic>
        <p:nvPicPr>
          <p:cNvPr id="21" name="Picture 20" descr="4_conf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59" y="1554480"/>
            <a:ext cx="11509248" cy="539496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Head"/>
          <p:cNvSpPr txBox="1"/>
          <p:nvPr/>
        </p:nvSpPr>
        <p:spPr>
          <a:xfrm>
            <a:off x="978408" y="7132320"/>
            <a:ext cx="11521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관찰</a:t>
            </a:r>
          </a:p>
        </p:txBody>
      </p:sp>
      <p:sp>
        <p:nvSpPr>
          <p:cNvPr id="23" name="Bullets"/>
          <p:cNvSpPr txBox="1"/>
          <p:nvPr/>
        </p:nvSpPr>
        <p:spPr>
          <a:xfrm>
            <a:off x="978408" y="7726679"/>
            <a:ext cx="11521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고리가 거의 없는 6 → 1, 꼬리가 짧은 6 → 0 (확신도 100%)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윗부분이 휘어진 5 → 3, 위가 닫힌 4 → 9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대부분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사람이 봐도 모호한 글씨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(일부는 라벨 오류로 보일 정도)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75920" y="7178040"/>
            <a:ext cx="30175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99.7%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맞힌 사진 평균 확신도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322040" y="7178040"/>
            <a:ext cx="30175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B91C1C"/>
                </a:solidFill>
                <a:latin typeface="SUIT"/>
                <a:ea typeface="SUIT"/>
              </a:rPr>
              <a:t>78.3%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틀린 사진 평균 확신도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60120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남은 0.5% 는 모델 한계보다 데이터의 모호함. 틀릴 땐 확신도가 낮아 '헷갈림'을 어느 정도 앎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AlexNet 개요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04 AlexNet 논문</a:t>
              </a:r>
            </a:p>
          </p:txBody>
        </p:sp>
      </p:grpSp>
      <p:sp>
        <p:nvSpPr>
          <p:cNvPr id="21" name="TextBox"/>
          <p:cNvSpPr txBox="1"/>
          <p:nvPr/>
        </p:nvSpPr>
        <p:spPr>
          <a:xfrm>
            <a:off x="978408" y="1600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0">
                <a:solidFill>
                  <a:srgbClr val="6B7280"/>
                </a:solidFill>
                <a:latin typeface="SUIT Medium"/>
                <a:ea typeface="SUIT Medium"/>
              </a:rPr>
              <a:t>ImageNet Classification with Deep Convolutional Neural Networks (Krizhevsky, Sutskever, Hinton · NeurIPS 2012)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" y="2423160"/>
            <a:ext cx="576072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15.3%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ILSVRC-2012 top-5 오류율 (1위)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8624" y="2423160"/>
            <a:ext cx="576072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6B7280"/>
                </a:solidFill>
                <a:latin typeface="SUIT"/>
                <a:ea typeface="SUIT"/>
              </a:rPr>
              <a:t>26.2%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2위 팀 top-5 오류율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78840" y="2423160"/>
            <a:ext cx="576072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6천만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파라미터 수 · GPU 2장 학습</a:t>
            </a:r>
          </a:p>
        </p:txBody>
      </p:sp>
      <p:sp>
        <p:nvSpPr>
          <p:cNvPr id="25" name="Head"/>
          <p:cNvSpPr txBox="1"/>
          <p:nvPr/>
        </p:nvSpPr>
        <p:spPr>
          <a:xfrm>
            <a:off x="978408" y="5029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구조 : Conv 5층 + FC 3층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입력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227×227×3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48456" y="619048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3308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Conv1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11×11, 96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803136" y="619048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8776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Conv2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5×5, 256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957816" y="619048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4244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Conv3-5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3×3, 384/384/256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3112496" y="619048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59712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FC6 · FC7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4096 + Dropout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6267176" y="6190488"/>
            <a:ext cx="411480" cy="36576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6751808" y="57150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300" b="1">
                <a:solidFill>
                  <a:srgbClr val="111827"/>
                </a:solidFill>
                <a:latin typeface="SUIT"/>
                <a:ea typeface="SUIT"/>
              </a:rPr>
              <a:t>FC8</a:t>
            </a:r>
          </a:p>
          <a:p>
            <a:pPr algn="ctr"/>
            <a:r>
              <a:rPr sz="1700" b="0">
                <a:solidFill>
                  <a:srgbClr val="6B7280"/>
                </a:solidFill>
                <a:latin typeface="SUIT Medium"/>
                <a:ea typeface="SUIT Medium"/>
              </a:rPr>
              <a:t>1000 + softmax</a:t>
            </a:r>
          </a:p>
        </p:txBody>
      </p:sp>
      <p:sp>
        <p:nvSpPr>
          <p:cNvPr id="37" name="Bullets"/>
          <p:cNvSpPr txBox="1"/>
          <p:nvPr/>
        </p:nvSpPr>
        <p:spPr>
          <a:xfrm>
            <a:off x="978408" y="740664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딥러닝 붐을 일으킨 논문 : 기존 방법(약 26%) 대비 오류율을 10%p 이상 낮춤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Conv 뒤 ReLU, Conv1·2 뒤 LRN + Overlapping MaxPool(3×3, stride 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핵심 기여 3가지와 내 실험의 연결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04 AlexNet 논문</a:t>
              </a:r>
            </a:p>
          </p:txBody>
        </p:sp>
      </p:grp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78408" y="1691640"/>
          <a:ext cx="18361151" cy="530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7469"/>
                <a:gridCol w="7074939"/>
                <a:gridCol w="7748743"/>
              </a:tblGrid>
              <a:tr h="13258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기여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논문 내용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UIT"/>
                          <a:ea typeface="SUIT"/>
                        </a:rPr>
                        <a:t>내 실험에서 확인한 것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00101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① ReLU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tanh 보다 학습이 수 배 빠름 (Figure 1)
기울기 소실 완화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모든 Conv 뒤 ReLU 사용
lr 이 너무 크면 학습 실패 (lr 0.01 실험)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② Dropout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FC6·FC7 에 p = 0.5
뉴런 간 공적응 방지 → 과적합 감소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MNIST : dropout 0.5 가 최선 (99.43%)
첫 Linear 뒤라는 위치도 논문과 동일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827"/>
                          </a:solidFill>
                          <a:latin typeface="SUIT"/>
                          <a:ea typeface="SUIT"/>
                        </a:rPr>
                        <a:t>③ Data Augmentation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랜덤 크롭 + 좌우 반전, RGB(PCA) 색 변화
데이터를 2048배로 늘린 효과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937"/>
                          </a:solidFill>
                          <a:latin typeface="SUIT Medium"/>
                          <a:ea typeface="SUIT Medium"/>
                        </a:rPr>
                        <a:t>손글씨에는 미적용 (반전 시 숫자 의미 변화)
CIFAR-10 : 77.7% → 82.0% (+4.3%p)</a:t>
                      </a:r>
                    </a:p>
                  </a:txBody>
                  <a:tcPr marL="130000" marR="130000" marT="60000" marB="60000" anchor="ctr">
                    <a:lnL w="9525">
                      <a:solidFill>
                        <a:srgbClr val="E5E7EB"/>
                      </a:solidFill>
                    </a:lnL>
                    <a:lnR w="9525">
                      <a:solidFill>
                        <a:srgbClr val="E5E7EB"/>
                      </a:solidFill>
                    </a:lnR>
                    <a:lnT w="9525">
                      <a:solidFill>
                        <a:srgbClr val="E5E7EB"/>
                      </a:solidFill>
                    </a:lnT>
                    <a:lnB w="9525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Head"/>
          <p:cNvSpPr txBox="1"/>
          <p:nvPr/>
        </p:nvSpPr>
        <p:spPr>
          <a:xfrm>
            <a:off x="978408" y="731520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그 밖의 기여</a:t>
            </a:r>
          </a:p>
        </p:txBody>
      </p:sp>
      <p:sp>
        <p:nvSpPr>
          <p:cNvPr id="23" name="Bullets"/>
          <p:cNvSpPr txBox="1"/>
          <p:nvPr/>
        </p:nvSpPr>
        <p:spPr>
          <a:xfrm>
            <a:off x="978408" y="790956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LRN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(Local Response Normalization) → 지금은 BatchNorm 으로 대체 (3주차 ResNet)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Overlapping Pooling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(3×3, stride 2) · </a:t>
            </a:r>
            <a:r>
              <a:rPr sz="2200" b="1">
                <a:solidFill>
                  <a:srgbClr val="111827"/>
                </a:solidFill>
                <a:latin typeface="SUIT"/>
                <a:ea typeface="SUIT"/>
              </a:rPr>
              <a:t>GPU 2장 병렬 학습</a:t>
            </a: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 (groups=2 로 분할)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" y="960120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SimpleCNN 의 ReLU · Dropout, CIFAR 의 증강은 모두 AlexNet 에서 시작된 기법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AlexNet 직접 구현 (Imagenette)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04 AlexNet 논문</a:t>
              </a:r>
            </a:p>
          </p:txBody>
        </p:sp>
      </p:grpSp>
      <p:pic>
        <p:nvPicPr>
          <p:cNvPr id="21" name="Picture 20" descr="alex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776984"/>
            <a:ext cx="12435840" cy="4767072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13898880" y="16916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80.3%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best val 정확도 (40 epoch)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898880" y="42062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11827"/>
                </a:solidFill>
                <a:latin typeface="SUIT"/>
                <a:ea typeface="SUIT"/>
              </a:rPr>
              <a:t>10 클래스</a:t>
            </a:r>
          </a:p>
          <a:p>
            <a:pPr algn="ctr"/>
            <a:r>
              <a:rPr sz="2000" b="0">
                <a:solidFill>
                  <a:srgbClr val="6B7280"/>
                </a:solidFill>
                <a:latin typeface="SUIT Medium"/>
                <a:ea typeface="SUIT Medium"/>
              </a:rPr>
              <a:t>Imagenette (ImageNet 부분집합)</a:t>
            </a:r>
          </a:p>
        </p:txBody>
      </p:sp>
      <p:sp>
        <p:nvSpPr>
          <p:cNvPr id="24" name="Head"/>
          <p:cNvSpPr txBox="1"/>
          <p:nvPr/>
        </p:nvSpPr>
        <p:spPr>
          <a:xfrm>
            <a:off x="978408" y="6995160"/>
            <a:ext cx="18361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SUIT"/>
                <a:ea typeface="SUIT"/>
              </a:rPr>
              <a:t>■ 구현과 관찰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978408" y="7589520"/>
            <a:ext cx="18361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논문 구조 그대로 : ReLU + LRN + Dropout 0.5 + groups=2 (GPU 분할), SGD lr 0.01 · batch 128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초반 5 epoch 은 loss 2.30 에서 정체 후 학습 시작. 26 epoch 이후 train 은 계속 오르고 val loss 는 0.67~0.90 에서 정체</a:t>
            </a:r>
          </a:p>
          <a:p>
            <a:pPr marL="349250" indent="-349250">
              <a:spcBef>
                <a:spcPts val="800"/>
              </a:spcBef>
              <a:buChar char="•"/>
            </a:pPr>
            <a:r>
              <a:rPr sz="2200" b="0">
                <a:solidFill>
                  <a:srgbClr val="1F2937"/>
                </a:solidFill>
                <a:latin typeface="SUIT Medium"/>
                <a:ea typeface="SUIT Medium"/>
              </a:rPr>
              <a:t>bench_conv1.py : Conv1 하나만 순수 Python 으로 계산하면 비현실적 시간 → GPU 가 필요했던 이유 체감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" y="978408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다음 실험 : ReLU vs tanh (논문 Figure 1), LRN 유무 비교 — 코드 옵션은 구현 완료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정리 · 한계 · 다음 주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05 정리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978408" y="1691640"/>
            <a:ext cx="5760720" cy="57607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1389888" y="2057400"/>
            <a:ext cx="49377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SUIT"/>
                <a:ea typeface="SUIT"/>
              </a:rPr>
              <a:t>배운 점</a:t>
            </a:r>
          </a:p>
        </p:txBody>
      </p:sp>
      <p:sp>
        <p:nvSpPr>
          <p:cNvPr id="23" name="Bullets"/>
          <p:cNvSpPr txBox="1"/>
          <p:nvPr/>
        </p:nvSpPr>
        <p:spPr>
          <a:xfrm>
            <a:off x="1389888" y="2926080"/>
            <a:ext cx="493775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파이프라인 전체를 직접 구현하며 각 단계의 역할 이해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규제(Dropout, 증강)는 과적합이 있을 때만 이득, 최적값은 데이터마다 다름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변인 통제 + 여러 시드로 해야 결론을 믿을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624" y="1691640"/>
            <a:ext cx="5760720" cy="57607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7690104" y="2057400"/>
            <a:ext cx="49377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91C1C"/>
                </a:solidFill>
                <a:latin typeface="SUIT"/>
                <a:ea typeface="SUIT"/>
              </a:rPr>
              <a:t>한계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7690104" y="2926080"/>
            <a:ext cx="493775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test 셋으로 best 모델 선택 → validation 분리 필요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하이퍼파라미터 상호작용 미검증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오답 원인은 눈으로 본 추정 → Grad-CAM 으로 확인 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78840" y="1691640"/>
            <a:ext cx="5760720" cy="57607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"/>
          <p:cNvSpPr txBox="1"/>
          <p:nvPr/>
        </p:nvSpPr>
        <p:spPr>
          <a:xfrm>
            <a:off x="13990319" y="2057400"/>
            <a:ext cx="493775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SUIT"/>
                <a:ea typeface="SUIT"/>
              </a:rPr>
              <a:t>다음 주</a:t>
            </a:r>
          </a:p>
        </p:txBody>
      </p:sp>
      <p:sp>
        <p:nvSpPr>
          <p:cNvPr id="29" name="Bullets"/>
          <p:cNvSpPr txBox="1"/>
          <p:nvPr/>
        </p:nvSpPr>
        <p:spPr>
          <a:xfrm>
            <a:off x="13990319" y="2926080"/>
            <a:ext cx="493775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ResNet 논문 리딩 · BasicBlock / Bottleneck 구현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CIFAR-10 85% 이상 달성</a:t>
            </a:r>
          </a:p>
          <a:p>
            <a:pPr marL="349250" indent="-349250">
              <a:spcBef>
                <a:spcPts val="1800"/>
              </a:spcBef>
              <a:buChar char="•"/>
            </a:pPr>
            <a:r>
              <a:rPr sz="2300" b="0">
                <a:solidFill>
                  <a:srgbClr val="1F2937"/>
                </a:solidFill>
                <a:latin typeface="SUIT Medium"/>
                <a:ea typeface="SUIT Medium"/>
              </a:rPr>
              <a:t>동료 코드 리뷰 (GitHub PR)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7868692A-8899-1C2F-8151-49AD34E32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40811" y="10805817"/>
            <a:ext cx="457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9D722-CFD9-B54D-9E3D-46750BEA8D5F}" type="slidenum">
              <a:rPr kumimoji="1" lang="ko-KR" altLang="en-US" sz="1600" b="1" smtClean="0">
                <a:solidFill>
                  <a:schemeClr val="tx1"/>
                </a:solidFill>
              </a:rPr>
              <a:t>4</a:t>
            </a:fld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E95EC-D544-33A2-378B-748C93E35CC3}"/>
              </a:ext>
            </a:extLst>
          </p:cNvPr>
          <p:cNvGrpSpPr/>
          <p:nvPr/>
        </p:nvGrpSpPr>
        <p:grpSpPr>
          <a:xfrm>
            <a:off x="0" y="-18256"/>
            <a:ext cx="20305269" cy="1284768"/>
            <a:chOff x="0" y="-18256"/>
            <a:chExt cx="20305269" cy="1284768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93BC91BA-0E89-98F6-2A94-39D926E81540}"/>
                </a:ext>
              </a:extLst>
            </p:cNvPr>
            <p:cNvSpPr/>
            <p:nvPr/>
          </p:nvSpPr>
          <p:spPr>
            <a:xfrm>
              <a:off x="469853" y="0"/>
              <a:ext cx="507949" cy="1105374"/>
            </a:xfrm>
            <a:prstGeom prst="rect">
              <a:avLst/>
            </a:prstGeom>
            <a:solidFill>
              <a:srgbClr val="00101A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 ">
              <a:extLst>
                <a:ext uri="{FF2B5EF4-FFF2-40B4-BE49-F238E27FC236}">
                  <a16:creationId xmlns:a16="http://schemas.microsoft.com/office/drawing/2014/main" id="{E9C46D9F-C44B-C5E8-20AF-089FD1C19C8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0" y="1253812"/>
              <a:ext cx="20305269" cy="12700"/>
            </a:xfrm>
            <a:prstGeom prst="rect">
              <a:avLst/>
            </a:prstGeom>
          </p:spPr>
        </p:pic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3F8ECA0A-3E18-37D1-7CB1-AB103A5422FB}"/>
                </a:ext>
              </a:extLst>
            </p:cNvPr>
            <p:cNvSpPr/>
            <p:nvPr/>
          </p:nvSpPr>
          <p:spPr>
            <a:xfrm>
              <a:off x="1103086" y="458521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5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부록. CIFAR-10 오답 분석</a:t>
              </a: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85E60F03-1D61-1A4F-9083-622BCB56ACB4}"/>
                </a:ext>
              </a:extLst>
            </p:cNvPr>
            <p:cNvSpPr/>
            <p:nvPr/>
          </p:nvSpPr>
          <p:spPr>
            <a:xfrm>
              <a:off x="1213283" y="-18256"/>
              <a:ext cx="19000000" cy="601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000" b="1" i="1" dirty="0">
                  <a:solidFill>
                    <a:schemeClr val="bg1">
                      <a:lumMod val="50000"/>
                    </a:schemeClr>
                  </a:solidFill>
                  <a:latin typeface="SUIT" panose="02020603050405020304" pitchFamily="18" charset="0"/>
                  <a:cs typeface="Times New Roman" panose="02020603050405020304" pitchFamily="18" charset="0"/>
                </a:rPr>
                <a:t>부록</a:t>
              </a:r>
            </a:p>
          </p:txBody>
        </p:sp>
      </p:grpSp>
      <p:pic>
        <p:nvPicPr>
          <p:cNvPr id="21" name="Picture 20" descr="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554480"/>
            <a:ext cx="7315200" cy="640080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22" name="Picture 21" descr="3_top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815" y="1554480"/>
            <a:ext cx="7028329" cy="6400799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3" name="Bullets"/>
          <p:cNvSpPr txBox="1"/>
          <p:nvPr/>
        </p:nvSpPr>
        <p:spPr>
          <a:xfrm>
            <a:off x="978408" y="809244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600"/>
              </a:spcBef>
              <a:buChar char="•"/>
            </a:pPr>
            <a:r>
              <a:rPr sz="2000" b="0">
                <a:solidFill>
                  <a:srgbClr val="1F2937"/>
                </a:solidFill>
                <a:latin typeface="SUIT Medium"/>
                <a:ea typeface="SUIT Medium"/>
              </a:rPr>
              <a:t>정확도 83.15% (오답 1,685장) · </a:t>
            </a:r>
            <a:r>
              <a:rPr sz="2000" b="1">
                <a:solidFill>
                  <a:srgbClr val="111827"/>
                </a:solidFill>
                <a:latin typeface="SUIT"/>
                <a:ea typeface="SUIT"/>
              </a:rPr>
              <a:t>cat 66.3%</a:t>
            </a:r>
            <a:r>
              <a:rPr sz="2000" b="0">
                <a:solidFill>
                  <a:srgbClr val="1F2937"/>
                </a:solidFill>
                <a:latin typeface="SUIT Medium"/>
                <a:ea typeface="SUIT Medium"/>
              </a:rPr>
              <a:t> 최저 / automobile 92.3% 최고</a:t>
            </a:r>
          </a:p>
          <a:p>
            <a:pPr marL="349250" indent="-349250">
              <a:spcBef>
                <a:spcPts val="600"/>
              </a:spcBef>
              <a:buChar char="•"/>
            </a:pPr>
            <a:r>
              <a:rPr sz="2000" b="1">
                <a:solidFill>
                  <a:srgbClr val="111827"/>
                </a:solidFill>
                <a:latin typeface="SUIT"/>
                <a:ea typeface="SUIT"/>
              </a:rPr>
              <a:t>cat↔dog 263장</a:t>
            </a:r>
            <a:r>
              <a:rPr sz="2000" b="0">
                <a:solidFill>
                  <a:srgbClr val="1F2937"/>
                </a:solidFill>
                <a:latin typeface="SUIT Medium"/>
                <a:ea typeface="SUIT Medium"/>
              </a:rPr>
              <a:t> (오답의 15.6%) · 동물끼리, 탈것끼리만 헷갈림</a:t>
            </a:r>
          </a:p>
        </p:txBody>
      </p:sp>
      <p:sp>
        <p:nvSpPr>
          <p:cNvPr id="24" name="Bullets"/>
          <p:cNvSpPr txBox="1"/>
          <p:nvPr/>
        </p:nvSpPr>
        <p:spPr>
          <a:xfrm>
            <a:off x="10058400" y="8092440"/>
            <a:ext cx="9281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9250" indent="-349250">
              <a:spcBef>
                <a:spcPts val="600"/>
              </a:spcBef>
              <a:buChar char="•"/>
            </a:pPr>
            <a:r>
              <a:rPr sz="2000" b="0">
                <a:solidFill>
                  <a:srgbClr val="1F2937"/>
                </a:solidFill>
                <a:latin typeface="SUIT Medium"/>
                <a:ea typeface="SUIT Medium"/>
              </a:rPr>
              <a:t>풀밭의 새 → deer, 파란 배경 비행기 → ship : </a:t>
            </a:r>
            <a:r>
              <a:rPr sz="2000" b="1">
                <a:solidFill>
                  <a:srgbClr val="111827"/>
                </a:solidFill>
                <a:latin typeface="SUIT"/>
                <a:ea typeface="SUIT"/>
              </a:rPr>
              <a:t>배경·색 의존</a:t>
            </a:r>
          </a:p>
          <a:p>
            <a:pPr marL="349250" indent="-349250">
              <a:spcBef>
                <a:spcPts val="600"/>
              </a:spcBef>
              <a:buChar char="•"/>
            </a:pPr>
            <a:r>
              <a:rPr sz="2000" b="0">
                <a:solidFill>
                  <a:srgbClr val="1F2937"/>
                </a:solidFill>
                <a:latin typeface="SUIT Medium"/>
                <a:ea typeface="SUIT Medium"/>
              </a:rPr>
              <a:t>픽업트럭·SUV → truck : 클래스 경계 자체가 모호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" y="9646920"/>
            <a:ext cx="18361152" cy="7772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/>
          <a:lstStyle/>
          <a:p>
            <a:pPr algn="ctr"/>
            <a:r>
              <a:rPr sz="2500" b="1">
                <a:solidFill>
                  <a:srgbClr val="B91C1C"/>
                </a:solidFill>
                <a:latin typeface="SUIT"/>
                <a:ea typeface="SUIT"/>
              </a:rPr>
              <a:t>→ </a:t>
            </a:r>
            <a:r>
              <a:rPr sz="2500" b="0">
                <a:solidFill>
                  <a:srgbClr val="1F2937"/>
                </a:solidFill>
                <a:latin typeface="SUIT Medium"/>
                <a:ea typeface="SUIT Medium"/>
              </a:rPr>
              <a:t>MNIST 는 '모호한 글씨', CIFAR 는 '비슷한 클래스 + 배경 의존' → 더 깊은 모델(ResNet)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10833</TotalTime>
  <Words>1452</Words>
  <Application>Microsoft Office PowerPoint</Application>
  <PresentationFormat>사용자 지정</PresentationFormat>
  <Paragraphs>232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KoPubWorldDotum Bold</vt:lpstr>
      <vt:lpstr>SUIT</vt:lpstr>
      <vt:lpstr>SUIT Medium</vt:lpstr>
      <vt:lpstr>맑은 고딕</vt:lpstr>
      <vt:lpstr>Arial</vt:lpstr>
      <vt:lpstr>Calibri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류종걸</cp:lastModifiedBy>
  <cp:revision>1293</cp:revision>
  <dcterms:created xsi:type="dcterms:W3CDTF">2025-01-11T17:18:55Z</dcterms:created>
  <dcterms:modified xsi:type="dcterms:W3CDTF">2026-09-30T23:08:00Z</dcterms:modified>
</cp:coreProperties>
</file>